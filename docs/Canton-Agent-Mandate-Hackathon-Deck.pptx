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1792" y="502920"/>
            <a:ext cx="2057400" cy="384048"/>
          </a:xfrm>
          <a:prstGeom prst="roundRect">
            <a:avLst/>
          </a:prstGeom>
          <a:solidFill>
            <a:srgbClr val="0E1F19"/>
          </a:solidFill>
          <a:ln>
            <a:solidFill>
              <a:srgbClr val="4CD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85216"/>
            <a:ext cx="183794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CDC92"/>
                </a:solidFill>
                <a:latin typeface="Aptos"/>
              </a:rPr>
              <a:t>BUILDONCANTON · D1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5F8F6"/>
                </a:solidFill>
                <a:latin typeface="Aptos"/>
              </a:rPr>
              <a:t>CANTON</a:t>
            </a:r>
            <a:br/>
            <a:r>
              <a:t>AGENT MANDATE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7180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B2F4CF"/>
                </a:solidFill>
                <a:latin typeface="Aptos"/>
              </a:rPr>
              <a:t>Ledger-enforced financial authority for AI agents.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858768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5F8F6"/>
                </a:solidFill>
                <a:latin typeface="Aptos"/>
              </a:rPr>
              <a:t>We gave an AI agent money,</a:t>
            </a:r>
            <a:br/>
            <a:r>
              <a:t>then tried to make it misbehave.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1663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CDC92"/>
                </a:solidFill>
                <a:latin typeface="Aptos"/>
              </a:rPr>
              <a:t>The model can be compromised. The mandate still holds.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DB1A6"/>
                </a:solidFill>
                <a:latin typeface="Aptos"/>
              </a:rPr>
              <a:t>CANTON AGENT MANDATE  ·  AIGENT.FARM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DB1A6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CDC92"/>
                </a:solidFill>
                <a:latin typeface="Aptos"/>
              </a:rPr>
              <a:t>01 ·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AI agents should not get unlimited signing authority.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423160"/>
            <a:ext cx="3429000" cy="2240280"/>
          </a:xfrm>
          <a:prstGeom prst="roundRect">
            <a:avLst/>
          </a:prstGeom>
          <a:solidFill>
            <a:srgbClr val="0E1F19"/>
          </a:solidFill>
          <a:ln>
            <a:solidFill>
              <a:srgbClr val="374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69748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DB1A6"/>
                </a:solidFill>
                <a:latin typeface="Aptos"/>
              </a:rPr>
              <a:t>PROMPT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0040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8F6"/>
                </a:solidFill>
                <a:latin typeface="Aptos"/>
              </a:rPr>
              <a:t>A model can be jailbroken, prompt-injected or simply wrong.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62272" y="2423160"/>
            <a:ext cx="3429000" cy="2240280"/>
          </a:xfrm>
          <a:prstGeom prst="roundRect">
            <a:avLst/>
          </a:prstGeom>
          <a:solidFill>
            <a:srgbClr val="0E1F19"/>
          </a:solidFill>
          <a:ln>
            <a:solidFill>
              <a:srgbClr val="374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269748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DB1A6"/>
                </a:solidFill>
                <a:latin typeface="Aptos"/>
              </a:rPr>
              <a:t>BACKEND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320040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8F6"/>
                </a:solidFill>
                <a:latin typeface="Aptos"/>
              </a:rPr>
              <a:t>Application logic can be bypassed or changed.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84463" y="2423160"/>
            <a:ext cx="3429000" cy="2240280"/>
          </a:xfrm>
          <a:prstGeom prst="roundRect">
            <a:avLst/>
          </a:prstGeom>
          <a:solidFill>
            <a:srgbClr val="0E1F19"/>
          </a:solidFill>
          <a:ln>
            <a:solidFill>
              <a:srgbClr val="4CD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13063" y="269748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DC92"/>
                </a:solidFill>
                <a:latin typeface="Aptos"/>
              </a:rPr>
              <a:t>LEDGER AUTHORITY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13063" y="320040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8F6"/>
                </a:solidFill>
                <a:latin typeface="Aptos"/>
              </a:rPr>
              <a:t>Put the hard boundary somewhere the model cannot override.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2578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2F4CF"/>
                </a:solidFill>
                <a:latin typeface="Aptos"/>
              </a:rPr>
              <a:t>AI decides what it wants to do.  Canton decides what it is allowed to 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DB1A6"/>
                </a:solidFill>
                <a:latin typeface="Aptos"/>
              </a:rPr>
              <a:t>CANTON AGENT MANDATE  ·  AIGENT.FARM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DB1A6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CDC92"/>
                </a:solidFill>
                <a:latin typeface="Aptos"/>
              </a:rPr>
              <a:t>02 · THE MANDATE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Give the agent exactly enough authority — and no more.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240280"/>
            <a:ext cx="3337560" cy="1051560"/>
          </a:xfrm>
          <a:prstGeom prst="roundRect">
            <a:avLst/>
          </a:prstGeom>
          <a:solidFill>
            <a:srgbClr val="0E1F19"/>
          </a:solidFill>
          <a:ln>
            <a:solidFill>
              <a:srgbClr val="2F5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240487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CDC92"/>
                </a:solidFill>
                <a:latin typeface="Aptos"/>
              </a:rPr>
              <a:t>OWNER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72491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8F6"/>
                </a:solidFill>
                <a:latin typeface="Aptos"/>
              </a:rPr>
              <a:t>Higher Eastcott Farm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240280"/>
            <a:ext cx="3337560" cy="1051560"/>
          </a:xfrm>
          <a:prstGeom prst="roundRect">
            <a:avLst/>
          </a:prstGeom>
          <a:solidFill>
            <a:srgbClr val="0E1F19"/>
          </a:solidFill>
          <a:ln>
            <a:solidFill>
              <a:srgbClr val="2F5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1728" y="240487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CDC92"/>
                </a:solidFill>
                <a:latin typeface="Aptos"/>
              </a:rPr>
              <a:t>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1728" y="272491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8F6"/>
                </a:solidFill>
                <a:latin typeface="Aptos"/>
              </a:rPr>
              <a:t>AI procurement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2240280"/>
            <a:ext cx="3337560" cy="1051560"/>
          </a:xfrm>
          <a:prstGeom prst="roundRect">
            <a:avLst/>
          </a:prstGeom>
          <a:solidFill>
            <a:srgbClr val="0E1F19"/>
          </a:solidFill>
          <a:ln>
            <a:solidFill>
              <a:srgbClr val="2F5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76488" y="240487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CDC92"/>
                </a:solidFill>
                <a:latin typeface="Aptos"/>
              </a:rPr>
              <a:t>CAP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6488" y="272491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8F6"/>
                </a:solidFill>
                <a:latin typeface="Aptos"/>
              </a:rPr>
              <a:t>£500 total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657600"/>
            <a:ext cx="3337560" cy="1051560"/>
          </a:xfrm>
          <a:prstGeom prst="roundRect">
            <a:avLst/>
          </a:prstGeom>
          <a:solidFill>
            <a:srgbClr val="0E1F19"/>
          </a:solidFill>
          <a:ln>
            <a:solidFill>
              <a:srgbClr val="2F5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822191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CDC92"/>
                </a:solidFill>
                <a:latin typeface="Aptos"/>
              </a:rPr>
              <a:t>ALLOW-LIST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4223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8F6"/>
                </a:solidFill>
                <a:latin typeface="Aptos"/>
              </a:rPr>
              <a:t>GreenFeed Ltd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3657600"/>
            <a:ext cx="3337560" cy="1051560"/>
          </a:xfrm>
          <a:prstGeom prst="roundRect">
            <a:avLst/>
          </a:prstGeom>
          <a:solidFill>
            <a:srgbClr val="0E1F19"/>
          </a:solidFill>
          <a:ln>
            <a:solidFill>
              <a:srgbClr val="2F5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1728" y="3822191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CDC92"/>
                </a:solidFill>
                <a:latin typeface="Aptos"/>
              </a:rPr>
              <a:t>EXPIRY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414223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8F6"/>
                </a:solidFill>
                <a:latin typeface="Aptos"/>
              </a:rPr>
              <a:t>30 Sep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3657600"/>
            <a:ext cx="3337560" cy="1051560"/>
          </a:xfrm>
          <a:prstGeom prst="roundRect">
            <a:avLst/>
          </a:prstGeom>
          <a:solidFill>
            <a:srgbClr val="0E1F19"/>
          </a:solidFill>
          <a:ln>
            <a:solidFill>
              <a:srgbClr val="2F5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76488" y="3822191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CDC92"/>
                </a:solidFill>
                <a:latin typeface="Aptos"/>
              </a:rPr>
              <a:t>REVOCATION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414223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8F6"/>
                </a:solidFill>
                <a:latin typeface="Aptos"/>
              </a:rPr>
              <a:t>Owner-controlled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3492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DB1A6"/>
                </a:solidFill>
                <a:latin typeface="Aptos"/>
              </a:rPr>
              <a:t>Enforced in Daml — not in the UI, Python adapter, or model prompt.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DB1A6"/>
                </a:solidFill>
                <a:latin typeface="Aptos"/>
              </a:rPr>
              <a:t>CANTON AGENT MANDATE  ·  AIGENT.FARM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DB1A6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CDC92"/>
                </a:solidFill>
                <a:latin typeface="Aptos"/>
              </a:rPr>
              <a:t>03 · ATTACK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The judge can try to make the agent break the rules.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8F6"/>
                </a:solidFill>
                <a:latin typeface="Aptos"/>
              </a:rPr>
              <a:t>£240 → GreenFeed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2112264"/>
            <a:ext cx="1325880" cy="384048"/>
          </a:xfrm>
          <a:prstGeom prst="roundRect">
            <a:avLst/>
          </a:prstGeom>
          <a:solidFill>
            <a:srgbClr val="0E1F19"/>
          </a:solidFill>
          <a:ln>
            <a:solidFill>
              <a:srgbClr val="4CD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27448" y="2194560"/>
            <a:ext cx="11064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CDC92"/>
                </a:solidFill>
                <a:latin typeface="Aptos"/>
              </a:rPr>
              <a:t>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1488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DB1A6"/>
                </a:solidFill>
                <a:latin typeface="Aptos"/>
              </a:rPr>
              <a:t>within cap + allow-list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535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8F6"/>
                </a:solidFill>
                <a:latin typeface="Aptos"/>
              </a:rPr>
              <a:t>£900 → GreenFeed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2916936"/>
            <a:ext cx="1325880" cy="384048"/>
          </a:xfrm>
          <a:prstGeom prst="roundRect">
            <a:avLst/>
          </a:prstGeom>
          <a:solidFill>
            <a:srgbClr val="0E1F19"/>
          </a:solidFill>
          <a:ln>
            <a:solidFill>
              <a:srgbClr val="FF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2999232"/>
            <a:ext cx="11064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7474"/>
                </a:solidFill>
                <a:latin typeface="Aptos"/>
              </a:rPr>
              <a:t>BLOCKED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9535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DB1A6"/>
                </a:solidFill>
                <a:latin typeface="Aptos"/>
              </a:rPr>
              <a:t>total spend cap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5818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8F6"/>
                </a:solidFill>
                <a:latin typeface="Aptos"/>
              </a:rPr>
              <a:t>£100 → Unknown Supplier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3721608"/>
            <a:ext cx="1325880" cy="384048"/>
          </a:xfrm>
          <a:prstGeom prst="roundRect">
            <a:avLst/>
          </a:prstGeom>
          <a:solidFill>
            <a:srgbClr val="0E1F19"/>
          </a:solidFill>
          <a:ln>
            <a:solidFill>
              <a:srgbClr val="FF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3803904"/>
            <a:ext cx="11064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7474"/>
                </a:solidFill>
                <a:latin typeface="Aptos"/>
              </a:rPr>
              <a:t>BLOCKED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75818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DB1A6"/>
                </a:solidFill>
                <a:latin typeface="Aptos"/>
              </a:rPr>
              <a:t>counterparty allow-list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6285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8F6"/>
                </a:solidFill>
                <a:latin typeface="Aptos"/>
              </a:rPr>
              <a:t>After owner revokes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4526280"/>
            <a:ext cx="1325880" cy="384048"/>
          </a:xfrm>
          <a:prstGeom prst="roundRect">
            <a:avLst/>
          </a:prstGeom>
          <a:solidFill>
            <a:srgbClr val="0E1F19"/>
          </a:solidFill>
          <a:ln>
            <a:solidFill>
              <a:srgbClr val="FF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27448" y="4608576"/>
            <a:ext cx="11064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7474"/>
                </a:solidFill>
                <a:latin typeface="Aptos"/>
              </a:rPr>
              <a:t>BLOCKED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56285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DB1A6"/>
                </a:solidFill>
                <a:latin typeface="Aptos"/>
              </a:rPr>
              <a:t>mandate no longer exists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CDC92"/>
                </a:solidFill>
                <a:latin typeface="Aptos"/>
              </a:rPr>
              <a:t>12 / 12 Daml scripts green · prohibited actions use submitMustFail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DB1A6"/>
                </a:solidFill>
                <a:latin typeface="Aptos"/>
              </a:rPr>
              <a:t>CANTON AGENT MANDATE  ·  AIGENT.FARM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DB1A6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CDC92"/>
                </a:solidFill>
                <a:latin typeface="Aptos"/>
              </a:rPr>
              <a:t>04 ·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Authority first. Settlement only if permitted.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331720"/>
            <a:ext cx="2423160" cy="1508760"/>
          </a:xfrm>
          <a:prstGeom prst="roundRect">
            <a:avLst/>
          </a:prstGeom>
          <a:solidFill>
            <a:srgbClr val="0E1F19"/>
          </a:solidFill>
          <a:ln>
            <a:solidFill>
              <a:srgbClr val="4CD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2587752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CDC92"/>
                </a:solidFill>
                <a:latin typeface="Aptos"/>
              </a:rPr>
              <a:t>AI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3063240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F8F6"/>
                </a:solidFill>
                <a:latin typeface="Aptos"/>
              </a:rPr>
              <a:t>proposes payment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281635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B2F4CF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93008" y="2331720"/>
            <a:ext cx="2423160" cy="1508760"/>
          </a:xfrm>
          <a:prstGeom prst="roundRect">
            <a:avLst/>
          </a:prstGeom>
          <a:solidFill>
            <a:srgbClr val="0E1F19"/>
          </a:solidFill>
          <a:ln>
            <a:solidFill>
              <a:srgbClr val="4CD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587752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CDC92"/>
                </a:solidFill>
                <a:latin typeface="Aptos"/>
              </a:rPr>
              <a:t>DAML MANDATE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063240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F8F6"/>
                </a:solidFill>
                <a:latin typeface="Aptos"/>
              </a:rPr>
              <a:t>PERMITTED / REJECTED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61888" y="281635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B2F4CF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91656" y="2331720"/>
            <a:ext cx="2423160" cy="1508760"/>
          </a:xfrm>
          <a:prstGeom prst="roundRect">
            <a:avLst/>
          </a:prstGeom>
          <a:solidFill>
            <a:srgbClr val="0E1F19"/>
          </a:solidFill>
          <a:ln>
            <a:solidFill>
              <a:srgbClr val="4CD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2587752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CDC92"/>
                </a:solidFill>
                <a:latin typeface="Aptos"/>
              </a:rPr>
              <a:t>ADAPTER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3063240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F8F6"/>
                </a:solidFill>
                <a:latin typeface="Aptos"/>
              </a:rPr>
              <a:t>invoked only if permitted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0536" y="281635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B2F4CF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90304" y="2331720"/>
            <a:ext cx="2423160" cy="1508760"/>
          </a:xfrm>
          <a:prstGeom prst="roundRect">
            <a:avLst/>
          </a:prstGeom>
          <a:solidFill>
            <a:srgbClr val="0E1F19"/>
          </a:solidFill>
          <a:ln>
            <a:solidFill>
              <a:srgbClr val="4CD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54896" y="2587752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CDC92"/>
                </a:solidFill>
                <a:latin typeface="Aptos"/>
              </a:rPr>
              <a:t>CANTON TOKEN STANDARD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54896" y="3063240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F8F6"/>
                </a:solidFill>
                <a:latin typeface="Aptos"/>
              </a:rPr>
              <a:t>transfer offer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6177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8F6"/>
                </a:solidFill>
                <a:latin typeface="Aptos"/>
              </a:rPr>
              <a:t>Current prototype: Daml authorisation + Token Standard settlement are two separate steps.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1663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4C25C"/>
                </a:solidFill>
                <a:latin typeface="Aptos"/>
              </a:rPr>
              <a:t>Atomic coupling is NOT claimed.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DB1A6"/>
                </a:solidFill>
                <a:latin typeface="Aptos"/>
              </a:rPr>
              <a:t>CANTON AGENT MANDATE  ·  AIGENT.FARM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DB1A6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CDC92"/>
                </a:solidFill>
                <a:latin typeface="Aptos"/>
              </a:rPr>
              <a:t>05 · REAL DEVNET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The permitted path reached real Cantor8 infrastructure.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DB1A6"/>
                </a:solidFill>
                <a:latin typeface="Aptos"/>
              </a:rPr>
              <a:t>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060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900" b="1">
                <a:solidFill>
                  <a:srgbClr val="4CDC92"/>
                </a:solidFill>
                <a:latin typeface="Aptos"/>
              </a:rPr>
              <a:t>10 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461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8F6"/>
                </a:solidFill>
                <a:latin typeface="Aptos"/>
              </a:rPr>
              <a:t>spendable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2402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DB1A6"/>
                </a:solidFill>
                <a:latin typeface="Aptos"/>
              </a:rPr>
              <a:t>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6060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900" b="1">
                <a:solidFill>
                  <a:srgbClr val="4CDC92"/>
                </a:solidFill>
                <a:latin typeface="Aptos"/>
              </a:rPr>
              <a:t>1 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2461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8F6"/>
                </a:solidFill>
                <a:latin typeface="Aptos"/>
              </a:rPr>
              <a:t>Token Standard offer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2402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DB1A6"/>
                </a:solidFill>
                <a:latin typeface="Aptos"/>
              </a:rPr>
              <a:t>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6060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900" b="1">
                <a:solidFill>
                  <a:srgbClr val="4CDC92"/>
                </a:solidFill>
                <a:latin typeface="Aptos"/>
              </a:rPr>
              <a:t>9 CC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2461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8F6"/>
                </a:solidFill>
                <a:latin typeface="Aptos"/>
              </a:rPr>
              <a:t>spendable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59" y="22402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DB1A6"/>
                </a:solidFill>
                <a:latin typeface="Aptos"/>
              </a:rPr>
              <a:t>LOCKED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59" y="26060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900" b="1">
                <a:solidFill>
                  <a:srgbClr val="4CDC92"/>
                </a:solidFill>
                <a:latin typeface="Aptos"/>
              </a:rPr>
              <a:t>1 CC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59" y="32461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8F6"/>
                </a:solidFill>
                <a:latin typeface="Aptos"/>
              </a:rPr>
              <a:t>in real offer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519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F8F6"/>
                </a:solidFill>
                <a:latin typeface="Aptos"/>
              </a:rPr>
              <a:t>colin-agent  →  greenfeed     ·     transferKind: offer     ·     receiver acceptance: PENDING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377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9DB1A6"/>
                </a:solidFill>
                <a:latin typeface="Aptos"/>
              </a:rPr>
              <a:t>£240 is the commercial scenario.  1 CC is the technical settlement proof.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4C25C"/>
                </a:solidFill>
                <a:latin typeface="Aptos"/>
              </a:rPr>
              <a:t>No fake hashes. No claim of final receiver settlement.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DB1A6"/>
                </a:solidFill>
                <a:latin typeface="Aptos"/>
              </a:rPr>
              <a:t>CANTON AGENT MANDATE  ·  AIGENT.FARM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DB1A6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CDC92"/>
                </a:solidFill>
                <a:latin typeface="Aptos"/>
              </a:rPr>
              <a:t>06 · THE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One screen: mandate, attacks, ledger outcome.</a:t>
            </a:r>
          </a:p>
        </p:txBody>
      </p:sp>
      <p:pic>
        <p:nvPicPr>
          <p:cNvPr id="4" name="Picture 3" descr="ui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65960"/>
            <a:ext cx="10927080" cy="4069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7395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DB1A6"/>
                </a:solidFill>
                <a:latin typeface="Aptos"/>
              </a:rPr>
              <a:t>CANTON AGENT MANDATE  ·  AIGENT.FARM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DB1A6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CDC92"/>
                </a:solidFill>
                <a:latin typeface="Aptos"/>
              </a:rPr>
              <a:t>07 · PRIVACY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Capital authority ≠ operational authority.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31720"/>
            <a:ext cx="2423160" cy="1417320"/>
          </a:xfrm>
          <a:prstGeom prst="roundRect">
            <a:avLst/>
          </a:prstGeom>
          <a:solidFill>
            <a:srgbClr val="0E1F19"/>
          </a:solidFill>
          <a:ln>
            <a:solidFill>
              <a:srgbClr val="4CD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8775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CDC92"/>
                </a:solidFill>
                <a:latin typeface="Aptos"/>
              </a:rPr>
              <a:t>FARM SPV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F8F6"/>
                </a:solidFill>
                <a:latin typeface="Aptos"/>
              </a:rPr>
              <a:t>issuer / signatory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331720"/>
            <a:ext cx="2423160" cy="1417320"/>
          </a:xfrm>
          <a:prstGeom prst="roundRect">
            <a:avLst/>
          </a:prstGeom>
          <a:solidFill>
            <a:srgbClr val="0E1F19"/>
          </a:solidFill>
          <a:ln>
            <a:solidFill>
              <a:srgbClr val="4CD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79" y="258775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CDC92"/>
                </a:solidFill>
                <a:latin typeface="Aptos"/>
              </a:rPr>
              <a:t>INVESTOR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79" y="306324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F8F6"/>
                </a:solidFill>
                <a:latin typeface="Aptos"/>
              </a:rPr>
              <a:t>stakeholder / accept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331720"/>
            <a:ext cx="2423160" cy="1417320"/>
          </a:xfrm>
          <a:prstGeom prst="roundRect">
            <a:avLst/>
          </a:prstGeom>
          <a:solidFill>
            <a:srgbClr val="0E1F19"/>
          </a:solidFill>
          <a:ln>
            <a:solidFill>
              <a:srgbClr val="4CD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58775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CDC92"/>
                </a:solidFill>
                <a:latin typeface="Aptos"/>
              </a:rPr>
              <a:t>REGULATOR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6324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F8F6"/>
                </a:solidFill>
                <a:latin typeface="Aptos"/>
              </a:rPr>
              <a:t>observer / read-only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59" y="2331720"/>
            <a:ext cx="2423160" cy="1417320"/>
          </a:xfrm>
          <a:prstGeom prst="roundRect">
            <a:avLst/>
          </a:prstGeom>
          <a:solidFill>
            <a:srgbClr val="0E1F19"/>
          </a:solidFill>
          <a:ln>
            <a:solidFill>
              <a:srgbClr val="FF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19" y="258775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7474"/>
                </a:solidFill>
                <a:latin typeface="Aptos"/>
              </a:rPr>
              <a:t>OUTSIDER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19" y="306324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F8F6"/>
                </a:solidFill>
                <a:latin typeface="Aptos"/>
              </a:rPr>
              <a:t>no authorised 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F8F6"/>
                </a:solidFill>
                <a:latin typeface="Aptos"/>
              </a:rPr>
              <a:t>An investor may commit £1.2m to the farm.</a:t>
            </a:r>
            <a:br/>
            <a:r>
              <a:t>The AI procurement agent still cannot spend £501 without permission.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321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B2F4CF"/>
                </a:solidFill>
                <a:latin typeface="Aptos"/>
              </a:rPr>
              <a:t>Privacy is tested per party on the ledger — it isn't CSS.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DB1A6"/>
                </a:solidFill>
                <a:latin typeface="Aptos"/>
              </a:rPr>
              <a:t>CANTON AGENT MANDATE  ·  AIGENT.FARM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DB1A6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CDC92"/>
                </a:solidFill>
                <a:latin typeface="Aptos"/>
              </a:rPr>
              <a:t>08 · WHAT IS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A deliberately defensible prototype.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DC92"/>
                </a:solidFill>
                <a:latin typeface="Aptos"/>
              </a:rPr>
              <a:t>PROVEN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8F6"/>
                </a:solidFill>
                <a:latin typeface="Aptos"/>
              </a:rPr>
              <a:t>✓  Daml mandate enforcement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5351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8F6"/>
                </a:solidFill>
                <a:latin typeface="Aptos"/>
              </a:rPr>
              <a:t>✓  12 / 12 adversarial/privacy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9242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8F6"/>
                </a:solidFill>
                <a:latin typeface="Aptos"/>
              </a:rPr>
              <a:t>✓  Real Cantor8 parties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31335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8F6"/>
                </a:solidFill>
                <a:latin typeface="Aptos"/>
              </a:rPr>
              <a:t>✓  Real 10 CC funding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702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8F6"/>
                </a:solidFill>
                <a:latin typeface="Aptos"/>
              </a:rPr>
              <a:t>✓  Real 1 CC transfer offer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091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8F6"/>
                </a:solidFill>
                <a:latin typeface="Aptos"/>
              </a:rPr>
              <a:t>✓  Real 10 → 9 spendable transition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4807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8F6"/>
                </a:solidFill>
                <a:latin typeface="Aptos"/>
              </a:rPr>
              <a:t>✓  Real 1 CC locked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C25C"/>
                </a:solidFill>
                <a:latin typeface="Aptos"/>
              </a:rPr>
              <a:t>NOT CLAIMED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14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DB1A6"/>
                </a:solidFill>
                <a:latin typeface="Aptos"/>
              </a:rPr>
              <a:t>—  Final GreenFeed acceptance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044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DB1A6"/>
                </a:solidFill>
                <a:latin typeface="Aptos"/>
              </a:rPr>
              <a:t>—  Atomic mandate + settlement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57530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DB1A6"/>
                </a:solidFill>
                <a:latin typeface="Aptos"/>
              </a:rPr>
              <a:t>—  Settled £1.2m FarmNote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1056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DB1A6"/>
                </a:solidFill>
                <a:latin typeface="Aptos"/>
              </a:rPr>
              <a:t>—  £240 = 1 CC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0749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4C25C"/>
                </a:solidFill>
                <a:latin typeface="Aptos"/>
              </a:rPr>
              <a:t>Receiver acceptance remains pending.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DB1A6"/>
                </a:solidFill>
                <a:latin typeface="Aptos"/>
              </a:rPr>
              <a:t>CANTON AGENT MANDATE  ·  AIGENT.FARM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DB1A6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CDC92"/>
                </a:solidFill>
                <a:latin typeface="Aptos"/>
              </a:rPr>
              <a:t>CANTON AGENT MANDATE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25880"/>
            <a:ext cx="10789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5F8F6"/>
                </a:solidFill>
                <a:latin typeface="Aptos"/>
              </a:rPr>
              <a:t>Programmable authority</a:t>
            </a:r>
            <a:br/>
            <a:r>
              <a:t>for money and assets.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9718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B2F4CF"/>
                </a:solidFill>
                <a:latin typeface="Aptos"/>
              </a:rPr>
              <a:t>Give people and AI agents exactly enough authority</a:t>
            </a:r>
            <a:br/>
            <a:r>
              <a:t>to move money and assets — and no more.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43484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8F6"/>
                </a:solidFill>
                <a:latin typeface="Aptos"/>
              </a:rPr>
              <a:t>AI decides what it wants to do.</a:t>
            </a:r>
            <a:br/>
            <a:r>
              <a:t>Canton decides what it is allowed to 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623560"/>
            <a:ext cx="2286000" cy="384048"/>
          </a:xfrm>
          <a:prstGeom prst="roundRect">
            <a:avLst/>
          </a:prstGeom>
          <a:solidFill>
            <a:srgbClr val="0E1F19"/>
          </a:solidFill>
          <a:ln>
            <a:solidFill>
              <a:srgbClr val="4CD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5705856"/>
            <a:ext cx="206654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CDC92"/>
                </a:solidFill>
                <a:latin typeface="Aptos"/>
              </a:rPr>
              <a:t>12 / 12 TESTS GREEN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5687568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DB1A6"/>
                </a:solidFill>
                <a:latin typeface="Aptos"/>
              </a:rPr>
              <a:t>Real DevNet · Real CC · Real transfer offer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DB1A6"/>
                </a:solidFill>
                <a:latin typeface="Aptos"/>
              </a:rPr>
              <a:t>CANTON AGENT MANDATE  ·  AIGENT.FARM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DB1A6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